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5143500" cx="9144000"/>
  <p:notesSz cx="6858000" cy="9144000"/>
  <p:embeddedFontLst>
    <p:embeddedFont>
      <p:font typeface="Roboto"/>
      <p:regular r:id="rId32"/>
      <p:bold r:id="rId33"/>
      <p:italic r:id="rId34"/>
      <p:boldItalic r:id="rId35"/>
    </p:embeddedFont>
    <p:embeddedFont>
      <p:font typeface="Montserrat"/>
      <p:regular r:id="rId36"/>
      <p:bold r:id="rId37"/>
      <p:italic r:id="rId38"/>
      <p:boldItalic r:id="rId39"/>
    </p:embeddedFont>
    <p:embeddedFont>
      <p:font typeface="Poppi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44" roundtripDataSignature="AMtx7mi0QPh63fG0YeOcOqo3F2FfJyEH/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oppins-regular.fntdata"/><Relationship Id="rId20" Type="http://schemas.openxmlformats.org/officeDocument/2006/relationships/slide" Target="slides/slide15.xml"/><Relationship Id="rId42" Type="http://schemas.openxmlformats.org/officeDocument/2006/relationships/font" Target="fonts/Poppins-italic.fntdata"/><Relationship Id="rId41" Type="http://schemas.openxmlformats.org/officeDocument/2006/relationships/font" Target="fonts/Poppins-bold.fntdata"/><Relationship Id="rId22" Type="http://schemas.openxmlformats.org/officeDocument/2006/relationships/slide" Target="slides/slide17.xml"/><Relationship Id="rId44" Type="http://customschemas.google.com/relationships/presentationmetadata" Target="metadata"/><Relationship Id="rId21" Type="http://schemas.openxmlformats.org/officeDocument/2006/relationships/slide" Target="slides/slide16.xml"/><Relationship Id="rId43" Type="http://schemas.openxmlformats.org/officeDocument/2006/relationships/font" Target="fonts/Poppins-boldItalic.fnt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Roboto-bold.fntdata"/><Relationship Id="rId10" Type="http://schemas.openxmlformats.org/officeDocument/2006/relationships/slide" Target="slides/slide5.xml"/><Relationship Id="rId32" Type="http://schemas.openxmlformats.org/officeDocument/2006/relationships/font" Target="fonts/Roboto-regular.fntdata"/><Relationship Id="rId13" Type="http://schemas.openxmlformats.org/officeDocument/2006/relationships/slide" Target="slides/slide8.xml"/><Relationship Id="rId35" Type="http://schemas.openxmlformats.org/officeDocument/2006/relationships/font" Target="fonts/Roboto-boldItalic.fntdata"/><Relationship Id="rId12" Type="http://schemas.openxmlformats.org/officeDocument/2006/relationships/slide" Target="slides/slide7.xml"/><Relationship Id="rId34" Type="http://schemas.openxmlformats.org/officeDocument/2006/relationships/font" Target="fonts/Roboto-italic.fntdata"/><Relationship Id="rId15" Type="http://schemas.openxmlformats.org/officeDocument/2006/relationships/slide" Target="slides/slide10.xml"/><Relationship Id="rId37" Type="http://schemas.openxmlformats.org/officeDocument/2006/relationships/font" Target="fonts/Montserrat-bold.fntdata"/><Relationship Id="rId14" Type="http://schemas.openxmlformats.org/officeDocument/2006/relationships/slide" Target="slides/slide9.xml"/><Relationship Id="rId36" Type="http://schemas.openxmlformats.org/officeDocument/2006/relationships/font" Target="fonts/Montserrat-regular.fntdata"/><Relationship Id="rId17" Type="http://schemas.openxmlformats.org/officeDocument/2006/relationships/slide" Target="slides/slide12.xml"/><Relationship Id="rId39" Type="http://schemas.openxmlformats.org/officeDocument/2006/relationships/font" Target="fonts/Montserrat-boldItalic.fntdata"/><Relationship Id="rId16" Type="http://schemas.openxmlformats.org/officeDocument/2006/relationships/slide" Target="slides/slide11.xml"/><Relationship Id="rId38" Type="http://schemas.openxmlformats.org/officeDocument/2006/relationships/font" Target="fonts/Montserrat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" name="Google Shape;13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" name="Google Shape;1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" name="Google Shape;1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0" name="Google Shape;20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3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32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8" name="Google Shape;28;p3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9" name="Google Shape;2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2" name="Google Shape;32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3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3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3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3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3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DFDFD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drive.google.com/file/d/15L31pvJ352UiLJOglh8oeXrIvuwXSIN0/view" TargetMode="External"/><Relationship Id="rId4" Type="http://schemas.openxmlformats.org/officeDocument/2006/relationships/image" Target="../media/image1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4750" y="0"/>
            <a:ext cx="771147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"/>
          <p:cNvSpPr txBox="1"/>
          <p:nvPr>
            <p:ph type="title"/>
          </p:nvPr>
        </p:nvSpPr>
        <p:spPr>
          <a:xfrm>
            <a:off x="311700" y="445025"/>
            <a:ext cx="8520600" cy="12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Votes Can’t Lie… But Voters Sometimes Can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" name="Google Shape;60;p2"/>
          <p:cNvSpPr txBox="1"/>
          <p:nvPr>
            <p:ph idx="1" type="body"/>
          </p:nvPr>
        </p:nvSpPr>
        <p:spPr>
          <a:xfrm>
            <a:off x="311700" y="2043325"/>
            <a:ext cx="5496900" cy="24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ct val="100000"/>
              <a:buFont typeface="Poppins"/>
              <a:buChar char="●"/>
            </a:pPr>
            <a:r>
              <a:rPr lang="en" sz="80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Traditional EVMs allow impersonation &amp; duplicates.</a:t>
            </a:r>
            <a:endParaRPr sz="80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ct val="100000"/>
              <a:buFont typeface="Poppins"/>
              <a:buChar char="●"/>
            </a:pPr>
            <a:r>
              <a:rPr lang="en" sz="80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Weak ID verification can causes fake voting.</a:t>
            </a:r>
            <a:endParaRPr sz="80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ct val="100000"/>
              <a:buFont typeface="Poppins"/>
              <a:buChar char="●"/>
            </a:pPr>
            <a:r>
              <a:rPr lang="en" sz="80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Also, paper systems can cause delays &amp; human error.</a:t>
            </a:r>
            <a:endParaRPr sz="80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solidFill>
                <a:srgbClr val="013622"/>
              </a:solidFill>
            </a:endParaRPr>
          </a:p>
        </p:txBody>
      </p:sp>
      <p:pic>
        <p:nvPicPr>
          <p:cNvPr id="61" name="Google Shape;61;p2" title="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29200" y="2112872"/>
            <a:ext cx="2990350" cy="23866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"/>
          <p:cNvSpPr txBox="1"/>
          <p:nvPr>
            <p:ph type="title"/>
          </p:nvPr>
        </p:nvSpPr>
        <p:spPr>
          <a:xfrm>
            <a:off x="311700" y="445025"/>
            <a:ext cx="85206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 Motivation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" name="Google Shape;67;p3"/>
          <p:cNvSpPr txBox="1"/>
          <p:nvPr>
            <p:ph idx="1" type="body"/>
          </p:nvPr>
        </p:nvSpPr>
        <p:spPr>
          <a:xfrm>
            <a:off x="311700" y="1460675"/>
            <a:ext cx="4833900" cy="310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62500" lnSpcReduction="20000"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13622"/>
              </a:buClr>
              <a:buSzPct val="100000"/>
              <a:buFont typeface="Poppins"/>
              <a:buChar char="●"/>
            </a:pPr>
            <a:r>
              <a:rPr lang="en" sz="32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It eliminates proxy &amp; duplicate voting.</a:t>
            </a:r>
            <a:endParaRPr sz="32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ct val="100000"/>
              <a:buFont typeface="Poppins"/>
              <a:buChar char="●"/>
            </a:pPr>
            <a:r>
              <a:rPr lang="en" sz="32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It builds trust through verifiable authentication.</a:t>
            </a:r>
            <a:endParaRPr sz="32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ct val="100000"/>
              <a:buChar char="●"/>
            </a:pPr>
            <a:r>
              <a:rPr lang="en" sz="32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It is designed for scalability &amp; transparency.</a:t>
            </a:r>
            <a:br>
              <a:rPr lang="en">
                <a:solidFill>
                  <a:srgbClr val="013622"/>
                </a:solidFill>
              </a:rPr>
            </a:br>
            <a:endParaRPr>
              <a:solidFill>
                <a:srgbClr val="01362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160000"/>
              <a:buNone/>
            </a:pPr>
            <a:r>
              <a:t/>
            </a:r>
            <a:endParaRPr>
              <a:solidFill>
                <a:srgbClr val="013622"/>
              </a:solidFill>
            </a:endParaRPr>
          </a:p>
        </p:txBody>
      </p:sp>
      <p:sp>
        <p:nvSpPr>
          <p:cNvPr id="68" name="Google Shape;68;p3"/>
          <p:cNvSpPr txBox="1"/>
          <p:nvPr/>
        </p:nvSpPr>
        <p:spPr>
          <a:xfrm>
            <a:off x="122550" y="3731050"/>
            <a:ext cx="87099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1" lang="en" sz="2100" u="none" cap="none" strike="noStrike">
                <a:solidFill>
                  <a:srgbClr val="1E293B"/>
                </a:solidFill>
                <a:latin typeface="Roboto"/>
                <a:ea typeface="Roboto"/>
                <a:cs typeface="Roboto"/>
                <a:sym typeface="Roboto"/>
              </a:rPr>
              <a:t>“Secure. Transparent. One Finger, One Vote.”</a:t>
            </a:r>
            <a:endParaRPr b="1" i="1" sz="2100" u="none" cap="none" strike="noStrike">
              <a:solidFill>
                <a:srgbClr val="1E293B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"/>
          <p:cNvSpPr txBox="1"/>
          <p:nvPr>
            <p:ph type="title"/>
          </p:nvPr>
        </p:nvSpPr>
        <p:spPr>
          <a:xfrm>
            <a:off x="311700" y="445025"/>
            <a:ext cx="8520600" cy="8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Objectives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" name="Google Shape;74;p4"/>
          <p:cNvSpPr txBox="1"/>
          <p:nvPr/>
        </p:nvSpPr>
        <p:spPr>
          <a:xfrm>
            <a:off x="3311700" y="25845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1E293B"/>
                </a:solidFill>
                <a:highlight>
                  <a:srgbClr val="1E293B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rgbClr val="1E293B"/>
              </a:solidFill>
              <a:highlight>
                <a:srgbClr val="1E293B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"/>
          <p:cNvSpPr txBox="1"/>
          <p:nvPr/>
        </p:nvSpPr>
        <p:spPr>
          <a:xfrm>
            <a:off x="6103800" y="2584488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 txBox="1"/>
          <p:nvPr/>
        </p:nvSpPr>
        <p:spPr>
          <a:xfrm>
            <a:off x="1225575" y="455147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 txBox="1"/>
          <p:nvPr/>
        </p:nvSpPr>
        <p:spPr>
          <a:xfrm>
            <a:off x="4572000" y="455147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4"/>
          <p:cNvPicPr preferRelativeResize="0"/>
          <p:nvPr/>
        </p:nvPicPr>
        <p:blipFill rotWithShape="1">
          <a:blip r:embed="rId3">
            <a:alphaModFix/>
          </a:blip>
          <a:srcRect b="0" l="1555" r="0" t="0"/>
          <a:stretch/>
        </p:blipFill>
        <p:spPr>
          <a:xfrm>
            <a:off x="142650" y="1389950"/>
            <a:ext cx="9001349" cy="367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System Overview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4" name="Google Shape;84;p5" title="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82463" y="1164425"/>
            <a:ext cx="3979075" cy="397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/>
          <p:nvPr>
            <p:ph idx="1" type="body"/>
          </p:nvPr>
        </p:nvSpPr>
        <p:spPr>
          <a:xfrm>
            <a:off x="454075" y="355625"/>
            <a:ext cx="8227500" cy="44802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1" sz="16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13622"/>
              </a:buClr>
              <a:buSzPts val="1600"/>
              <a:buFont typeface="Poppins"/>
              <a:buChar char="●"/>
            </a:pPr>
            <a: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Central Processing Through Arduino Uno</a:t>
            </a:r>
            <a:b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The Arduino Uno functions as the main controller, coordinating all input and output operations within the voting system.</a:t>
            </a:r>
            <a:endParaRPr sz="16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600"/>
              <a:buFont typeface="Poppins"/>
              <a:buChar char="●"/>
            </a:pPr>
            <a: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Biometric Authentication via R307 Sensor</a:t>
            </a:r>
            <a:b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The fingerprint sensor captures and sends biometric data to the Arduino, ensuring that only authorized and enrolled voters can access the voting interface.</a:t>
            </a:r>
            <a:endParaRPr sz="16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600"/>
              <a:buFont typeface="Poppins"/>
              <a:buChar char="●"/>
            </a:pPr>
            <a: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User Interaction Through Button Inputs</a:t>
            </a:r>
            <a:b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Push buttons serve as the primary user interface, enabling key operations such as enrollment, verification, deletion, and vote casting.</a:t>
            </a:r>
            <a:endParaRPr sz="25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/>
          <p:nvPr>
            <p:ph idx="1" type="body"/>
          </p:nvPr>
        </p:nvSpPr>
        <p:spPr>
          <a:xfrm>
            <a:off x="311700" y="464700"/>
            <a:ext cx="8304300" cy="43710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13622"/>
              </a:buClr>
              <a:buSzPts val="1600"/>
              <a:buFont typeface="Poppins"/>
              <a:buChar char="●"/>
            </a:pPr>
            <a: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Real-Time Feedback Through LCD Display</a:t>
            </a:r>
            <a:b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A 16×2 I²C LCD module provides instant system messages, instructions, and voting results to guide the voter and admin during operation.</a:t>
            </a:r>
            <a:endParaRPr sz="16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600"/>
              <a:buFont typeface="Poppins"/>
              <a:buChar char="●"/>
            </a:pPr>
            <a: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Stable Operation Powered Through DC Input</a:t>
            </a:r>
            <a:br>
              <a:rPr b="1"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" sz="16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A regulated DC power supply feeds the Arduino, which further distributes the required voltage to all connected modules for reliable system performance.</a:t>
            </a:r>
            <a:endParaRPr sz="25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8"/>
          <p:cNvSpPr txBox="1"/>
          <p:nvPr>
            <p:ph type="title"/>
          </p:nvPr>
        </p:nvSpPr>
        <p:spPr>
          <a:xfrm>
            <a:off x="311700" y="445025"/>
            <a:ext cx="8520600" cy="9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Block Diagram</a:t>
            </a:r>
            <a:endParaRPr/>
          </a:p>
        </p:txBody>
      </p:sp>
      <p:pic>
        <p:nvPicPr>
          <p:cNvPr id="100" name="Google Shape;10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1526" y="1392125"/>
            <a:ext cx="5245500" cy="371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9"/>
          <p:cNvSpPr txBox="1"/>
          <p:nvPr>
            <p:ph type="title"/>
          </p:nvPr>
        </p:nvSpPr>
        <p:spPr>
          <a:xfrm>
            <a:off x="311700" y="445025"/>
            <a:ext cx="8520600" cy="9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Hardware Components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6" name="Google Shape;10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502525"/>
            <a:ext cx="8596847" cy="348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0"/>
          <p:cNvSpPr txBox="1"/>
          <p:nvPr>
            <p:ph type="title"/>
          </p:nvPr>
        </p:nvSpPr>
        <p:spPr>
          <a:xfrm>
            <a:off x="311700" y="234050"/>
            <a:ext cx="8520600" cy="7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Software Architecture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2" name="Google Shape;112;p10"/>
          <p:cNvSpPr txBox="1"/>
          <p:nvPr>
            <p:ph idx="1" type="body"/>
          </p:nvPr>
        </p:nvSpPr>
        <p:spPr>
          <a:xfrm>
            <a:off x="192875" y="1090650"/>
            <a:ext cx="8520600" cy="37656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" sz="2024" u="sng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Technologies &amp; Methods Used:-</a:t>
            </a:r>
            <a:endParaRPr b="1" i="1" sz="2024" u="sng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8185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13622"/>
              </a:buClr>
              <a:buSzPts val="1726"/>
              <a:buChar char="●"/>
            </a:pPr>
            <a:r>
              <a:rPr b="1"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Programming Language:</a:t>
            </a:r>
            <a:r>
              <a:rPr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C++ using the </a:t>
            </a:r>
            <a:r>
              <a:rPr b="1"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Arduino IDE</a:t>
            </a:r>
            <a:endParaRPr b="1" sz="1725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81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726"/>
              <a:buChar char="●"/>
            </a:pPr>
            <a:r>
              <a:rPr b="1"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Biometric Processing:</a:t>
            </a:r>
            <a:r>
              <a:rPr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Onboard </a:t>
            </a:r>
            <a:r>
              <a:rPr b="1"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DSP (Digital Signal Processing)</a:t>
            </a:r>
            <a:r>
              <a:rPr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of the R307 for image processing &amp; template matching</a:t>
            </a:r>
            <a:endParaRPr sz="1725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81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726"/>
              <a:buChar char="●"/>
            </a:pPr>
            <a:r>
              <a:rPr b="1"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Data Storage:</a:t>
            </a:r>
            <a:r>
              <a:rPr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Internal </a:t>
            </a:r>
            <a:r>
              <a:rPr b="1"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EEPROM</a:t>
            </a:r>
            <a:r>
              <a:rPr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for vote counts and voting status</a:t>
            </a:r>
            <a:endParaRPr sz="1725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81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726"/>
              <a:buChar char="●"/>
            </a:pPr>
            <a:r>
              <a:rPr b="1"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I/O Handling:</a:t>
            </a:r>
            <a:r>
              <a:rPr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Interrupt-like button polling for user operations</a:t>
            </a:r>
            <a:endParaRPr sz="1725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81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726"/>
              <a:buChar char="●"/>
            </a:pPr>
            <a:r>
              <a:rPr b="1"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Display Interface:</a:t>
            </a:r>
            <a:r>
              <a:rPr lang="en" sz="1725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I²C LCD for user feedback and result visualization</a:t>
            </a:r>
            <a:endParaRPr sz="1725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400"/>
              <a:buNone/>
            </a:pPr>
            <a:r>
              <a:t/>
            </a:r>
            <a:endParaRPr>
              <a:solidFill>
                <a:srgbClr val="01362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1" title="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2275" y="-1100700"/>
            <a:ext cx="8299449" cy="8299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 txBox="1"/>
          <p:nvPr>
            <p:ph type="title"/>
          </p:nvPr>
        </p:nvSpPr>
        <p:spPr>
          <a:xfrm>
            <a:off x="311700" y="93425"/>
            <a:ext cx="8520600" cy="9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Circuit Description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3" name="Google Shape;12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06475" y="866875"/>
            <a:ext cx="6891788" cy="41296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2"/>
          <p:cNvSpPr txBox="1"/>
          <p:nvPr/>
        </p:nvSpPr>
        <p:spPr>
          <a:xfrm>
            <a:off x="1270054" y="1292129"/>
            <a:ext cx="2833800" cy="28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6350" lIns="86350" spcFirstLastPara="1" rIns="86350" wrap="square" tIns="863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22"/>
              <a:buFont typeface="Arial"/>
              <a:buNone/>
            </a:pPr>
            <a:r>
              <a:rPr b="0" i="0" lang="en" sz="1322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322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3"/>
          <p:cNvSpPr txBox="1"/>
          <p:nvPr>
            <p:ph type="title"/>
          </p:nvPr>
        </p:nvSpPr>
        <p:spPr>
          <a:xfrm>
            <a:off x="311700" y="63275"/>
            <a:ext cx="8520600" cy="8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Working Principle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" name="Google Shape;130;p13"/>
          <p:cNvSpPr txBox="1"/>
          <p:nvPr>
            <p:ph idx="1" type="body"/>
          </p:nvPr>
        </p:nvSpPr>
        <p:spPr>
          <a:xfrm>
            <a:off x="311700" y="988525"/>
            <a:ext cx="8520600" cy="39483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13622"/>
              </a:buClr>
              <a:buSzPts val="1700"/>
              <a:buFont typeface="Poppins"/>
              <a:buAutoNum type="arabicPeriod"/>
            </a:pPr>
            <a:r>
              <a:rPr b="1"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Initialization: </a:t>
            </a:r>
            <a:r>
              <a:rPr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The Arduino Uno boots, initializes the fingerprint sensor, LCD display, and loads stored data from EEPROM.</a:t>
            </a:r>
            <a:endParaRPr sz="17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700"/>
              <a:buFont typeface="Poppins"/>
              <a:buAutoNum type="arabicPeriod"/>
            </a:pPr>
            <a:r>
              <a:rPr b="1"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Enrollment:</a:t>
            </a:r>
            <a:r>
              <a:rPr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New voter fingerprints are captured, processed using the sensor’s internal DSP algorithm, and stored in both the R307 module and the EEPROM for tracking who has/has not voted.</a:t>
            </a:r>
            <a:endParaRPr sz="17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1700"/>
              <a:buFont typeface="Poppins"/>
              <a:buAutoNum type="arabicPeriod"/>
            </a:pPr>
            <a:r>
              <a:rPr b="1"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Verification:</a:t>
            </a:r>
            <a:r>
              <a:rPr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Fingerprint images are matched against stored templates using the R307’s onboard DSP matching engine. Only authenticated voters proceed.</a:t>
            </a:r>
            <a:endParaRPr sz="17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4"/>
          <p:cNvSpPr txBox="1"/>
          <p:nvPr>
            <p:ph idx="1" type="body"/>
          </p:nvPr>
        </p:nvSpPr>
        <p:spPr>
          <a:xfrm>
            <a:off x="311700" y="452650"/>
            <a:ext cx="8520600" cy="41163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4.   </a:t>
            </a:r>
            <a:r>
              <a:rPr b="1"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Voting:</a:t>
            </a:r>
            <a:r>
              <a:rPr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Verified users select their desired candidate via push buttons. The Arduino logs each vote and updates the EEPROM securely.</a:t>
            </a:r>
            <a:endParaRPr sz="17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5.  </a:t>
            </a:r>
            <a:r>
              <a:rPr b="1"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Result:</a:t>
            </a:r>
            <a:r>
              <a:rPr lang="en" sz="17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 The system retrieves cumulative vote counts from EEPROM and displays the final results on the LCD when triggered by the admin.</a:t>
            </a:r>
            <a:endParaRPr sz="17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5"/>
          <p:cNvSpPr txBox="1"/>
          <p:nvPr>
            <p:ph type="title"/>
          </p:nvPr>
        </p:nvSpPr>
        <p:spPr>
          <a:xfrm>
            <a:off x="311700" y="445025"/>
            <a:ext cx="85206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 Key Features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1" name="Google Shape;141;p15" title="4.png"/>
          <p:cNvPicPr preferRelativeResize="0"/>
          <p:nvPr/>
        </p:nvPicPr>
        <p:blipFill rotWithShape="1">
          <a:blip r:embed="rId3">
            <a:alphaModFix/>
          </a:blip>
          <a:srcRect b="0" l="0" r="0" t="29903"/>
          <a:stretch/>
        </p:blipFill>
        <p:spPr>
          <a:xfrm>
            <a:off x="1859624" y="1340975"/>
            <a:ext cx="5424775" cy="3802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 txBox="1"/>
          <p:nvPr/>
        </p:nvSpPr>
        <p:spPr>
          <a:xfrm>
            <a:off x="5125400" y="3801375"/>
            <a:ext cx="2418600" cy="12408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BUTTONS</a:t>
            </a:r>
            <a:endParaRPr b="0" i="0" sz="1800" u="none" cap="none" strike="noStrike">
              <a:solidFill>
                <a:schemeClr val="dk1"/>
              </a:solidFill>
              <a:latin typeface="Impact"/>
              <a:ea typeface="Impact"/>
              <a:cs typeface="Impact"/>
              <a:sym typeface="Impac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3 for the candidates</a:t>
            </a:r>
            <a:endParaRPr b="0" i="0" sz="1800" u="none" cap="none" strike="noStrike">
              <a:solidFill>
                <a:schemeClr val="dk1"/>
              </a:solidFill>
              <a:latin typeface="Impact"/>
              <a:ea typeface="Impact"/>
              <a:cs typeface="Impact"/>
              <a:sym typeface="Impac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5 for the registration</a:t>
            </a:r>
            <a:endParaRPr b="0" i="0" sz="1800" u="none" cap="none" strike="noStrike">
              <a:solidFill>
                <a:schemeClr val="dk1"/>
              </a:solidFill>
              <a:latin typeface="Impact"/>
              <a:ea typeface="Impact"/>
              <a:cs typeface="Impact"/>
              <a:sym typeface="Impac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1 for initialization</a:t>
            </a:r>
            <a:endParaRPr b="0" i="0" sz="1800" u="none" cap="none" strike="noStrike">
              <a:solidFill>
                <a:schemeClr val="dk1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/>
          <p:cNvSpPr txBox="1"/>
          <p:nvPr>
            <p:ph type="title"/>
          </p:nvPr>
        </p:nvSpPr>
        <p:spPr>
          <a:xfrm>
            <a:off x="311700" y="151350"/>
            <a:ext cx="8520600" cy="7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402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Algorithm / Workflow</a:t>
            </a:r>
            <a:endParaRPr b="1" sz="402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8" name="Google Shape;14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6925" y="925950"/>
            <a:ext cx="5010150" cy="417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/>
          <p:cNvSpPr txBox="1"/>
          <p:nvPr>
            <p:ph type="title"/>
          </p:nvPr>
        </p:nvSpPr>
        <p:spPr>
          <a:xfrm>
            <a:off x="311700" y="445025"/>
            <a:ext cx="8520600" cy="10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Result &amp; Output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4" name="Google Shape;15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4450" y="1888425"/>
            <a:ext cx="3525025" cy="285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51050" y="1888425"/>
            <a:ext cx="3790425" cy="285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6625" y="1309049"/>
            <a:ext cx="3410100" cy="261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58640" y="1309050"/>
            <a:ext cx="3341908" cy="261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5075" y="1187725"/>
            <a:ext cx="3459400" cy="265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55775" y="1283800"/>
            <a:ext cx="3538925" cy="246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0" title="WhatsApp Video 2025-11-14 at 08.58.15.mp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63671" y="90500"/>
            <a:ext cx="6616667" cy="496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1"/>
          <p:cNvSpPr txBox="1"/>
          <p:nvPr>
            <p:ph type="title"/>
          </p:nvPr>
        </p:nvSpPr>
        <p:spPr>
          <a:xfrm>
            <a:off x="311700" y="445025"/>
            <a:ext cx="8520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Key Findings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8" name="Google Shape;178;p21"/>
          <p:cNvPicPr preferRelativeResize="0"/>
          <p:nvPr/>
        </p:nvPicPr>
        <p:blipFill rotWithShape="1">
          <a:blip r:embed="rId3">
            <a:alphaModFix/>
          </a:blip>
          <a:srcRect b="24681" l="0" r="0" t="28458"/>
          <a:stretch/>
        </p:blipFill>
        <p:spPr>
          <a:xfrm>
            <a:off x="1428524" y="1681675"/>
            <a:ext cx="6243451" cy="2925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80125"/>
            <a:ext cx="8839199" cy="481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52400"/>
            <a:ext cx="8813071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4"/>
          <p:cNvSpPr txBox="1"/>
          <p:nvPr>
            <p:ph type="title"/>
          </p:nvPr>
        </p:nvSpPr>
        <p:spPr>
          <a:xfrm>
            <a:off x="311700" y="445025"/>
            <a:ext cx="8520600" cy="8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 Future</a:t>
            </a:r>
            <a:r>
              <a:rPr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Enhancements</a:t>
            </a:r>
            <a:endParaRPr b="1"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94" name="Google Shape;194;p24"/>
          <p:cNvPicPr preferRelativeResize="0"/>
          <p:nvPr/>
        </p:nvPicPr>
        <p:blipFill rotWithShape="1">
          <a:blip r:embed="rId3">
            <a:alphaModFix/>
          </a:blip>
          <a:srcRect b="29698" l="0" r="0" t="35845"/>
          <a:stretch/>
        </p:blipFill>
        <p:spPr>
          <a:xfrm>
            <a:off x="482722" y="1490800"/>
            <a:ext cx="8308900" cy="28630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5"/>
          <p:cNvSpPr txBox="1"/>
          <p:nvPr>
            <p:ph type="title"/>
          </p:nvPr>
        </p:nvSpPr>
        <p:spPr>
          <a:xfrm>
            <a:off x="311700" y="445025"/>
            <a:ext cx="8520600" cy="8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4000">
                <a:solidFill>
                  <a:srgbClr val="046C44"/>
                </a:solidFill>
                <a:latin typeface="Montserrat"/>
                <a:ea typeface="Montserrat"/>
                <a:cs typeface="Montserrat"/>
                <a:sym typeface="Montserrat"/>
              </a:rPr>
              <a:t> Conclusion</a:t>
            </a:r>
            <a:endParaRPr sz="4000">
              <a:solidFill>
                <a:srgbClr val="046C4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0" name="Google Shape;200;p25"/>
          <p:cNvSpPr txBox="1"/>
          <p:nvPr>
            <p:ph idx="1" type="body"/>
          </p:nvPr>
        </p:nvSpPr>
        <p:spPr>
          <a:xfrm>
            <a:off x="371975" y="1490825"/>
            <a:ext cx="8520600" cy="27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13622"/>
              </a:buClr>
              <a:buSzPts val="2000"/>
              <a:buFont typeface="Poppins"/>
              <a:buChar char="●"/>
            </a:pPr>
            <a:r>
              <a:rPr lang="en" sz="20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The prototype demonstrates scalable, secure voting</a:t>
            </a:r>
            <a:br>
              <a:rPr lang="en" sz="20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20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2000"/>
              <a:buFont typeface="Poppins"/>
              <a:buChar char="●"/>
            </a:pPr>
            <a:r>
              <a:rPr lang="en" sz="20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Enhances election transparency</a:t>
            </a:r>
            <a:br>
              <a:rPr lang="en" sz="20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</a:br>
            <a:endParaRPr sz="20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13622"/>
              </a:buClr>
              <a:buSzPts val="2000"/>
              <a:buFont typeface="Poppins"/>
              <a:buChar char="●"/>
            </a:pPr>
            <a:r>
              <a:rPr lang="en" sz="2000">
                <a:solidFill>
                  <a:srgbClr val="013622"/>
                </a:solidFill>
                <a:latin typeface="Poppins"/>
                <a:ea typeface="Poppins"/>
                <a:cs typeface="Poppins"/>
                <a:sym typeface="Poppins"/>
              </a:rPr>
              <a:t>Ready for real-world adaptation and improvement</a:t>
            </a:r>
            <a:endParaRPr sz="2000">
              <a:solidFill>
                <a:srgbClr val="01362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 sz="1300">
              <a:solidFill>
                <a:srgbClr val="01362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6"/>
          <p:cNvSpPr txBox="1"/>
          <p:nvPr>
            <p:ph idx="1" type="body"/>
          </p:nvPr>
        </p:nvSpPr>
        <p:spPr>
          <a:xfrm>
            <a:off x="311700" y="0"/>
            <a:ext cx="8520600" cy="494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b="1" lang="en" sz="4500">
                <a:solidFill>
                  <a:schemeClr val="accent5"/>
                </a:solidFill>
                <a:latin typeface="Poppins"/>
                <a:ea typeface="Poppins"/>
                <a:cs typeface="Poppins"/>
                <a:sym typeface="Poppins"/>
              </a:rPr>
              <a:t>THANK YOU</a:t>
            </a:r>
            <a:endParaRPr b="1" sz="4500">
              <a:solidFill>
                <a:schemeClr val="accent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